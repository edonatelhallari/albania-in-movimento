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Buongiorno. Il mio progetto analizza l'emigrazione albanese dal 1990 a oggi: dove vanno gli albanesi, perché partono e cosa succede in Italia, il primo paese di destinazione.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 strutturato il progetto intorno a sei domande. Le prime due sono generali, le altre si concentrano sui tre paesi principali e in particolare sull'Italia.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 raccolto i dati da quattro fonti ufficiali, li ho puliti con Python, organizzati in un database MySQL e visualizzati in Power BI con un modello a stella.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primo dato: 1,2 milioni di albanesi vivono all'estero, contro 2,4 milioni in Albania. È una stima per difetto, perché per alcuni paesi importanti come la Germania i dati per origine non ci sono.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Italia e Grecia da sole accolgono la grande maggioranza degli albanesi all'estero. Il dato più sorprendente è la Germania: in quindici anni i residenti albanesi sono aumentati di undici volte.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motivo principale è la famiglia: più della metà dei primi permessi. È il segno di una migrazione ormai matura, dove le reti familiari attirano nuovi arrivi. Al secondo posto c'è il lavoro.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Italia vivono oltre 414 mila albanesi, soprattutto al Centro-Nord, con la Lombardia al primo posto. Le donne sono quasi la metà, un altro segnale di una migrazione familiare e stabile.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contesto economico spiega la spinta a partire: il PIL pro capite italiano è due volte e mezzo quello albanese, e un giovane su quattro in Albania è disoccupato. Le rimesse, oltre due miliardi di dollari, mostrano quanto l'emigrazione sostenga ancora le famiglie in Albania.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Questo è il risultato più interessante. Dal 2014 i residenti albanesi in Italia sono calati di circa 72 mila, ma nello stesso periodo più di 320 mila albanesi sono diventati cittadini italiani. Quindi il calo non è una fuga: è integrazione.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Ogni fonte ha dei buchi. Li ho documentati invece di nasconderli: per esempio la Grecia in Eurostat ha solo due anni, e l'Istat non pubblica l'età per cittadinanza, quindi ho adattato la domanda di ricerca.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 concludere, quattro messaggi. La diaspora albanese è enorme; è una migrazione soprattutto familiare; il divario economico resta la causa principale; e in Italia il calo dei residenti si spiega con le nuove cittadinanze.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Grazie per l'attenzione. Sono pronta a rispondere alle domande e a mostrare il report in Power BI.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E1A19"/>
                </a:solidFill>
                <a:latin typeface="Oswald" pitchFamily="34" charset="0"/>
                <a:ea typeface="Oswald" pitchFamily="34" charset="-122"/>
                <a:cs typeface="Oswal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E1A1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E1A19"/>
                </a:solidFill>
                <a:latin typeface="Oswald" pitchFamily="34" charset="0"/>
                <a:ea typeface="Oswald" pitchFamily="34" charset="-122"/>
                <a:cs typeface="Oswal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E1A1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A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232664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spc="200" kern="0" dirty="0">
                <a:solidFill>
                  <a:srgbClr val="E8505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PROGETTO FINALE · MASTER IN DATA ANALYTICS &amp; AI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2865120"/>
            <a:ext cx="10883392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000"/>
              </a:lnSpc>
              <a:buNone/>
            </a:pPr>
            <a:r>
              <a:rPr lang="en-US" sz="8000" b="1" i="0" dirty="0">
                <a:solidFill>
                  <a:srgbClr val="F7F2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ALBANIA IN MOVIMENTO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812800" y="4135120"/>
            <a:ext cx="915670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>
                <a:solidFill>
                  <a:srgbClr val="D9CFC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Dove e perché emigrano gli albanesi (1990–2025)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12800" y="5963920"/>
            <a:ext cx="7848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8ADA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Edona Telhallari · Epicode ·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E1A1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SEI DOMANDE DI RICERCA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71320"/>
            <a:ext cx="3386614" cy="157480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812800" y="1671320"/>
            <a:ext cx="3386614" cy="1574800"/>
          </a:xfrm>
          <a:custGeom>
            <a:avLst/>
            <a:gdLst/>
            <a:ahLst/>
            <a:cxnLst/>
            <a:rect l="l" t="t" r="r" b="b"/>
            <a:pathLst>
              <a:path w="3386614" h="157480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14" y="0"/>
                </a:lnTo>
                <a:arcTo hR="76200" wR="76200" stAng="16200000" swAng="5400000"/>
                <a:lnTo>
                  <a:pt x="3386614" y="76200"/>
                </a:lnTo>
                <a:arcTo hR="25400" wR="76200" stAng="0" swAng="-5400000"/>
                <a:lnTo>
                  <a:pt x="76200" y="50800"/>
                </a:lnTo>
                <a:arcTo hR="25400" wR="76200" stAng="16200000" swAng="-5400000"/>
                <a:close/>
              </a:path>
            </a:pathLst>
          </a:custGeom>
          <a:solidFill>
            <a:srgbClr val="C8102E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1950720"/>
            <a:ext cx="3017296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41400" y="2418080"/>
            <a:ext cx="301729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E1A1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Dove vanno?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1400" y="2768600"/>
            <a:ext cx="301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 principali paesi di destinazione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2614" y="1671320"/>
            <a:ext cx="3386693" cy="157480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402614" y="1671320"/>
            <a:ext cx="3386693" cy="1574800"/>
          </a:xfrm>
          <a:custGeom>
            <a:avLst/>
            <a:gdLst/>
            <a:ahLst/>
            <a:cxnLst/>
            <a:rect l="l" t="t" r="r" b="b"/>
            <a:pathLst>
              <a:path w="3386693" h="157480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93" y="0"/>
                </a:lnTo>
                <a:arcTo hR="76200" wR="76200" stAng="16200000" swAng="5400000"/>
                <a:lnTo>
                  <a:pt x="3386693" y="76200"/>
                </a:lnTo>
                <a:arcTo hR="25400" wR="76200" stAng="0" swAng="-5400000"/>
                <a:lnTo>
                  <a:pt x="76200" y="50800"/>
                </a:lnTo>
                <a:arcTo hR="25400" wR="76200" stAng="16200000" swAng="-5400000"/>
                <a:close/>
              </a:path>
            </a:pathLst>
          </a:custGeom>
          <a:solidFill>
            <a:srgbClr val="C8102E"/>
          </a:solidFill>
          <a:ln/>
        </p:spPr>
      </p:sp>
      <p:sp>
        <p:nvSpPr>
          <p:cNvPr id="10" name="Text 8"/>
          <p:cNvSpPr/>
          <p:nvPr/>
        </p:nvSpPr>
        <p:spPr>
          <a:xfrm>
            <a:off x="4631214" y="1950720"/>
            <a:ext cx="3017378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31214" y="2418080"/>
            <a:ext cx="301737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E1A1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Perché partono?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31214" y="2768600"/>
            <a:ext cx="3017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Famiglia, lavoro, studio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92507" y="1671320"/>
            <a:ext cx="3386693" cy="157480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992507" y="1671320"/>
            <a:ext cx="3386693" cy="1574800"/>
          </a:xfrm>
          <a:custGeom>
            <a:avLst/>
            <a:gdLst/>
            <a:ahLst/>
            <a:cxnLst/>
            <a:rect l="l" t="t" r="r" b="b"/>
            <a:pathLst>
              <a:path w="3386693" h="157480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93" y="0"/>
                </a:lnTo>
                <a:arcTo hR="76200" wR="76200" stAng="16200000" swAng="5400000"/>
                <a:lnTo>
                  <a:pt x="3386693" y="76200"/>
                </a:lnTo>
                <a:arcTo hR="25400" wR="76200" stAng="0" swAng="-5400000"/>
                <a:lnTo>
                  <a:pt x="76200" y="50800"/>
                </a:lnTo>
                <a:arcTo hR="25400" wR="76200" stAng="16200000" swAng="-5400000"/>
                <a:close/>
              </a:path>
            </a:pathLst>
          </a:custGeom>
          <a:solidFill>
            <a:srgbClr val="C8102E"/>
          </a:solidFill>
          <a:ln/>
        </p:spPr>
      </p:sp>
      <p:sp>
        <p:nvSpPr>
          <p:cNvPr id="15" name="Text 13"/>
          <p:cNvSpPr/>
          <p:nvPr/>
        </p:nvSpPr>
        <p:spPr>
          <a:xfrm>
            <a:off x="8221107" y="1950720"/>
            <a:ext cx="3017378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221107" y="2418080"/>
            <a:ext cx="301737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E1A1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Italia, Grecia, Germania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1107" y="2768600"/>
            <a:ext cx="3017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Tre destinazioni a confronto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2800" y="3449320"/>
            <a:ext cx="3386614" cy="157480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812800" y="3449320"/>
            <a:ext cx="3386614" cy="1574800"/>
          </a:xfrm>
          <a:custGeom>
            <a:avLst/>
            <a:gdLst/>
            <a:ahLst/>
            <a:cxnLst/>
            <a:rect l="l" t="t" r="r" b="b"/>
            <a:pathLst>
              <a:path w="3386614" h="157480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14" y="0"/>
                </a:lnTo>
                <a:arcTo hR="76200" wR="76200" stAng="16200000" swAng="5400000"/>
                <a:lnTo>
                  <a:pt x="3386614" y="76200"/>
                </a:lnTo>
                <a:arcTo hR="25400" wR="76200" stAng="0" swAng="-5400000"/>
                <a:lnTo>
                  <a:pt x="76200" y="50800"/>
                </a:lnTo>
                <a:arcTo hR="25400" wR="76200" stAng="16200000" swAng="-5400000"/>
                <a:close/>
              </a:path>
            </a:pathLst>
          </a:custGeom>
          <a:solidFill>
            <a:srgbClr val="C8102E"/>
          </a:solidFill>
          <a:ln/>
        </p:spPr>
      </p:sp>
      <p:sp>
        <p:nvSpPr>
          <p:cNvPr id="20" name="Text 18"/>
          <p:cNvSpPr/>
          <p:nvPr/>
        </p:nvSpPr>
        <p:spPr>
          <a:xfrm>
            <a:off x="1041400" y="3728720"/>
            <a:ext cx="3017296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41400" y="4196080"/>
            <a:ext cx="301729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E1A1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Focus Italia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41400" y="4546600"/>
            <a:ext cx="301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Regioni e genere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402614" y="3449320"/>
            <a:ext cx="3386693" cy="157480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4402614" y="3449320"/>
            <a:ext cx="3386693" cy="1574800"/>
          </a:xfrm>
          <a:custGeom>
            <a:avLst/>
            <a:gdLst/>
            <a:ahLst/>
            <a:cxnLst/>
            <a:rect l="l" t="t" r="r" b="b"/>
            <a:pathLst>
              <a:path w="3386693" h="157480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93" y="0"/>
                </a:lnTo>
                <a:arcTo hR="76200" wR="76200" stAng="16200000" swAng="5400000"/>
                <a:lnTo>
                  <a:pt x="3386693" y="76200"/>
                </a:lnTo>
                <a:arcTo hR="25400" wR="76200" stAng="0" swAng="-5400000"/>
                <a:lnTo>
                  <a:pt x="76200" y="50800"/>
                </a:lnTo>
                <a:arcTo hR="25400" wR="76200" stAng="16200000" swAng="-5400000"/>
                <a:close/>
              </a:path>
            </a:pathLst>
          </a:custGeom>
          <a:solidFill>
            <a:srgbClr val="C8102E"/>
          </a:solidFill>
          <a:ln/>
        </p:spPr>
      </p:sp>
      <p:sp>
        <p:nvSpPr>
          <p:cNvPr id="25" name="Text 23"/>
          <p:cNvSpPr/>
          <p:nvPr/>
        </p:nvSpPr>
        <p:spPr>
          <a:xfrm>
            <a:off x="4631214" y="3728720"/>
            <a:ext cx="3017378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631214" y="4196080"/>
            <a:ext cx="301737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E1A1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Contesto economico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631214" y="4546600"/>
            <a:ext cx="3017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PIL, disoccupazione, rimesse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992507" y="3449320"/>
            <a:ext cx="3386693" cy="157480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7992507" y="3449320"/>
            <a:ext cx="3386693" cy="1574800"/>
          </a:xfrm>
          <a:custGeom>
            <a:avLst/>
            <a:gdLst/>
            <a:ahLst/>
            <a:cxnLst/>
            <a:rect l="l" t="t" r="r" b="b"/>
            <a:pathLst>
              <a:path w="3386693" h="157480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93" y="0"/>
                </a:lnTo>
                <a:arcTo hR="76200" wR="76200" stAng="16200000" swAng="5400000"/>
                <a:lnTo>
                  <a:pt x="3386693" y="76200"/>
                </a:lnTo>
                <a:arcTo hR="25400" wR="76200" stAng="0" swAng="-5400000"/>
                <a:lnTo>
                  <a:pt x="76200" y="50800"/>
                </a:lnTo>
                <a:arcTo hR="25400" wR="76200" stAng="16200000" swAng="-5400000"/>
                <a:close/>
              </a:path>
            </a:pathLst>
          </a:custGeom>
          <a:solidFill>
            <a:srgbClr val="C8102E"/>
          </a:solidFill>
          <a:ln/>
        </p:spPr>
      </p:sp>
      <p:sp>
        <p:nvSpPr>
          <p:cNvPr id="30" name="Text 28"/>
          <p:cNvSpPr/>
          <p:nvPr/>
        </p:nvSpPr>
        <p:spPr>
          <a:xfrm>
            <a:off x="8221107" y="3728720"/>
            <a:ext cx="3017378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06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221107" y="4196080"/>
            <a:ext cx="301737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E1A1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Il paradosso italiano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221107" y="4546600"/>
            <a:ext cx="3017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Residenti e nuove cittadinanze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E1A1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DATI E METODO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74495"/>
            <a:ext cx="2520950" cy="1731010"/>
          </a:xfrm>
          <a:prstGeom prst="roundRect">
            <a:avLst>
              <a:gd name="adj" fmla="val 4219"/>
            </a:avLst>
          </a:prstGeom>
          <a:solidFill>
            <a:srgbClr val="FFFFFF"/>
          </a:solidFill>
          <a:ln w="6350">
            <a:solidFill>
              <a:srgbClr val="E6DE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1080" y="1879600"/>
            <a:ext cx="217406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81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 · FONTI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1080" y="2169161"/>
            <a:ext cx="2174062" cy="1056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E1A1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Eurostat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E1A1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 DESA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E1A1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Banca Mondiale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E1A1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Istat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95675" y="1674495"/>
            <a:ext cx="2520950" cy="1731010"/>
          </a:xfrm>
          <a:prstGeom prst="roundRect">
            <a:avLst>
              <a:gd name="adj" fmla="val 4219"/>
            </a:avLst>
          </a:prstGeom>
          <a:solidFill>
            <a:srgbClr val="FFFFFF"/>
          </a:solidFill>
          <a:ln w="6350">
            <a:solidFill>
              <a:srgbClr val="E6DE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00780" y="1879600"/>
            <a:ext cx="217406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81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 · PYTHON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700780" y="2169161"/>
            <a:ext cx="2174062" cy="79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E1A1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7 notebook di pulizia: rinomina, filtri, melt, controllo dei totali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5375" y="1674495"/>
            <a:ext cx="2520950" cy="1731010"/>
          </a:xfrm>
          <a:prstGeom prst="roundRect">
            <a:avLst>
              <a:gd name="adj" fmla="val 4219"/>
            </a:avLst>
          </a:prstGeom>
          <a:solidFill>
            <a:srgbClr val="FFFFFF"/>
          </a:solidFill>
          <a:ln w="6350">
            <a:solidFill>
              <a:srgbClr val="E6DE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0480" y="1879600"/>
            <a:ext cx="217406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81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 · MYSQL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80480" y="2169161"/>
            <a:ext cx="2174062" cy="79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E1A1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Database con 7 tabelle e query di analisi (JOIN, RANK, LAG)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855075" y="1674495"/>
            <a:ext cx="2520950" cy="1731010"/>
          </a:xfrm>
          <a:prstGeom prst="roundRect">
            <a:avLst>
              <a:gd name="adj" fmla="val 4219"/>
            </a:avLst>
          </a:prstGeom>
          <a:solidFill>
            <a:srgbClr val="FFFFFF"/>
          </a:solidFill>
          <a:ln w="6350">
            <a:solidFill>
              <a:srgbClr val="E6DE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60180" y="1879600"/>
            <a:ext cx="217406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81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 · POWER BI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060180" y="2169161"/>
            <a:ext cx="2174062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E1A1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Modello a stella, misure DAX, report di 6 pagine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2800" y="3764280"/>
            <a:ext cx="98107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Dai file grezzi al report: lo stesso percorso ETL usato in azienda — estrarre, pulire, modellare, raccontare.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A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7F2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PANORAMICA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722120"/>
            <a:ext cx="52847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E8505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1,2 mln</a:t>
            </a:r>
            <a:endParaRPr lang="en-US" sz="7000" dirty="0"/>
          </a:p>
        </p:txBody>
      </p:sp>
      <p:sp>
        <p:nvSpPr>
          <p:cNvPr id="4" name="Text 2"/>
          <p:cNvSpPr/>
          <p:nvPr/>
        </p:nvSpPr>
        <p:spPr>
          <a:xfrm>
            <a:off x="812800" y="2661920"/>
            <a:ext cx="5284724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D9CFC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albanesi che vivono all'estero nel 2024 (UN DESA)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48400" y="1722120"/>
            <a:ext cx="52847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F7F2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2,4 mln</a:t>
            </a:r>
            <a:endParaRPr lang="en-US" sz="7000" dirty="0"/>
          </a:p>
        </p:txBody>
      </p:sp>
      <p:sp>
        <p:nvSpPr>
          <p:cNvPr id="6" name="Text 4"/>
          <p:cNvSpPr/>
          <p:nvPr/>
        </p:nvSpPr>
        <p:spPr>
          <a:xfrm>
            <a:off x="6248400" y="2661920"/>
            <a:ext cx="5284724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D9CFC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abitanti in Albania nel 2024 (Banca Mondiale)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3342641"/>
            <a:ext cx="981075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F7F2E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Per ogni </a:t>
            </a:r>
            <a:r>
              <a:rPr lang="en-US" sz="2200" b="1" dirty="0">
                <a:solidFill>
                  <a:srgbClr val="F7F2E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due</a:t>
            </a:r>
            <a:r>
              <a:rPr lang="en-US" sz="2200" dirty="0">
                <a:solidFill>
                  <a:srgbClr val="F7F2E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albanesi in patria, circa </a:t>
            </a:r>
            <a:r>
              <a:rPr lang="en-US" sz="2200" b="1" dirty="0">
                <a:solidFill>
                  <a:srgbClr val="E8505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uno</a:t>
            </a:r>
            <a:r>
              <a:rPr lang="en-US" sz="2200" dirty="0">
                <a:solidFill>
                  <a:srgbClr val="F7F2E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vive all'estero.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12800" y="6238239"/>
            <a:ext cx="10464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ADA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Stima prudente: UN DESA non riporta i dati di origine albanese per Germania, USA, Regno Unito e altri paesi.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238239"/>
            <a:ext cx="10464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605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Albanesi nel mondo per paese, 2024 · Fonte: UN DESA · Germania: Eurostat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E1A1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DOVE VANNO?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32939"/>
            <a:ext cx="1765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1A1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Italia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679700" y="1905000"/>
            <a:ext cx="3556000" cy="304800"/>
          </a:xfrm>
          <a:prstGeom prst="roundRect">
            <a:avLst>
              <a:gd name="adj" fmla="val 12500"/>
            </a:avLst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6388100" y="1932939"/>
            <a:ext cx="939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1A1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542.638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2800" y="2466339"/>
            <a:ext cx="1765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1A1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Grecia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679700" y="2438400"/>
            <a:ext cx="3111500" cy="304800"/>
          </a:xfrm>
          <a:prstGeom prst="roundRect">
            <a:avLst>
              <a:gd name="adj" fmla="val 12500"/>
            </a:avLst>
          </a:prstGeom>
          <a:solidFill>
            <a:srgbClr val="C8102E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0" y="2466339"/>
            <a:ext cx="939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1A1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474.441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2999739"/>
            <a:ext cx="1765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E1A1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Macedonia del Nord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679700" y="2971800"/>
            <a:ext cx="450850" cy="304800"/>
          </a:xfrm>
          <a:prstGeom prst="roundRect">
            <a:avLst>
              <a:gd name="adj" fmla="val 12500"/>
            </a:avLst>
          </a:prstGeom>
          <a:solidFill>
            <a:srgbClr val="8A7F78"/>
          </a:solidFill>
          <a:ln/>
        </p:spPr>
      </p:sp>
      <p:sp>
        <p:nvSpPr>
          <p:cNvPr id="12" name="Text 10"/>
          <p:cNvSpPr/>
          <p:nvPr/>
        </p:nvSpPr>
        <p:spPr>
          <a:xfrm>
            <a:off x="3282950" y="2999739"/>
            <a:ext cx="939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E1A1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68.356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3533139"/>
            <a:ext cx="1765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E1A1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Francia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679700" y="3505200"/>
            <a:ext cx="361950" cy="304800"/>
          </a:xfrm>
          <a:prstGeom prst="roundRect">
            <a:avLst>
              <a:gd name="adj" fmla="val 12500"/>
            </a:avLst>
          </a:prstGeom>
          <a:solidFill>
            <a:srgbClr val="8A7F78"/>
          </a:solidFill>
          <a:ln/>
        </p:spPr>
      </p:sp>
      <p:sp>
        <p:nvSpPr>
          <p:cNvPr id="15" name="Text 13"/>
          <p:cNvSpPr/>
          <p:nvPr/>
        </p:nvSpPr>
        <p:spPr>
          <a:xfrm>
            <a:off x="3194050" y="3533139"/>
            <a:ext cx="939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E1A1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54.967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4066539"/>
            <a:ext cx="1765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E1A1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Canada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679700" y="4038600"/>
            <a:ext cx="133350" cy="304800"/>
          </a:xfrm>
          <a:prstGeom prst="roundRect">
            <a:avLst>
              <a:gd name="adj" fmla="val 28571"/>
            </a:avLst>
          </a:prstGeom>
          <a:solidFill>
            <a:srgbClr val="8A7F78"/>
          </a:solidFill>
          <a:ln/>
        </p:spPr>
      </p:sp>
      <p:sp>
        <p:nvSpPr>
          <p:cNvPr id="18" name="Text 16"/>
          <p:cNvSpPr/>
          <p:nvPr/>
        </p:nvSpPr>
        <p:spPr>
          <a:xfrm>
            <a:off x="2965450" y="4066539"/>
            <a:ext cx="939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E1A1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20.718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2800" y="4599939"/>
            <a:ext cx="1765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E1A1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Belgio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679700" y="4572000"/>
            <a:ext cx="107950" cy="304800"/>
          </a:xfrm>
          <a:prstGeom prst="roundRect">
            <a:avLst>
              <a:gd name="adj" fmla="val 35294"/>
            </a:avLst>
          </a:prstGeom>
          <a:solidFill>
            <a:srgbClr val="8A7F78"/>
          </a:solidFill>
          <a:ln/>
        </p:spPr>
      </p:sp>
      <p:sp>
        <p:nvSpPr>
          <p:cNvPr id="21" name="Text 19"/>
          <p:cNvSpPr/>
          <p:nvPr/>
        </p:nvSpPr>
        <p:spPr>
          <a:xfrm>
            <a:off x="2940050" y="4599939"/>
            <a:ext cx="939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E1A1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16.175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569200" y="1905000"/>
            <a:ext cx="3810000" cy="2433320"/>
          </a:xfrm>
          <a:prstGeom prst="roundRect">
            <a:avLst>
              <a:gd name="adj" fmla="val 4175"/>
            </a:avLst>
          </a:prstGeom>
          <a:solidFill>
            <a:srgbClr val="1E1A19"/>
          </a:solidFill>
          <a:ln/>
        </p:spPr>
      </p:sp>
      <p:sp>
        <p:nvSpPr>
          <p:cNvPr id="23" name="Text 21"/>
          <p:cNvSpPr/>
          <p:nvPr/>
        </p:nvSpPr>
        <p:spPr>
          <a:xfrm>
            <a:off x="7874000" y="2209800"/>
            <a:ext cx="329641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8505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IL CASO GERMANIA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874000" y="2550161"/>
            <a:ext cx="3296412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7F2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×11</a:t>
            </a:r>
            <a:endParaRPr lang="en-US" sz="4800" dirty="0"/>
          </a:p>
        </p:txBody>
      </p:sp>
      <p:sp>
        <p:nvSpPr>
          <p:cNvPr id="25" name="Text 23"/>
          <p:cNvSpPr/>
          <p:nvPr/>
        </p:nvSpPr>
        <p:spPr>
          <a:xfrm>
            <a:off x="7874000" y="3286761"/>
            <a:ext cx="3296412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9CFC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 10.663 residenti nel 2010 a 118.697 nel 2025 (Eurostat): oggi la seconda destinazione nell'UE dopo l'Italia.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E1A1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PERCHÉ PARTONO?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20521"/>
            <a:ext cx="2519680" cy="1727200"/>
          </a:xfrm>
          <a:prstGeom prst="roundRect">
            <a:avLst>
              <a:gd name="adj" fmla="val 5882"/>
            </a:avLst>
          </a:prstGeom>
          <a:solidFill>
            <a:srgbClr val="C8102E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1874521"/>
            <a:ext cx="2072031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AF7F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51,6%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66800" y="2534921"/>
            <a:ext cx="2072031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AF7F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Famiglia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66800" y="2870200"/>
            <a:ext cx="207203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AF7F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34.464 permessi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88055" y="1623696"/>
            <a:ext cx="2523490" cy="1720850"/>
          </a:xfrm>
          <a:prstGeom prst="roundRect">
            <a:avLst>
              <a:gd name="adj" fmla="val 5720"/>
            </a:avLst>
          </a:prstGeom>
          <a:solidFill>
            <a:srgbClr val="FFFFFF"/>
          </a:solidFill>
          <a:ln w="6350">
            <a:solidFill>
              <a:srgbClr val="E6DE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3960" y="1879600"/>
            <a:ext cx="2072031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1E1A1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28,6%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743960" y="2540000"/>
            <a:ext cx="2072031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E1A1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Lavoro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743960" y="2875282"/>
            <a:ext cx="207203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19.100 permessi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0295" y="1623696"/>
            <a:ext cx="2523490" cy="1720850"/>
          </a:xfrm>
          <a:prstGeom prst="roundRect">
            <a:avLst>
              <a:gd name="adj" fmla="val 5720"/>
            </a:avLst>
          </a:prstGeom>
          <a:solidFill>
            <a:srgbClr val="FFFFFF"/>
          </a:solidFill>
          <a:ln w="6350">
            <a:solidFill>
              <a:srgbClr val="E6DE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6200" y="1879600"/>
            <a:ext cx="2072031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1E1A1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16,6%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6426200" y="2540000"/>
            <a:ext cx="2072031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E1A1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Altro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26200" y="2875282"/>
            <a:ext cx="207203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11.111 permessi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852535" y="1623696"/>
            <a:ext cx="2523490" cy="1720850"/>
          </a:xfrm>
          <a:prstGeom prst="roundRect">
            <a:avLst>
              <a:gd name="adj" fmla="val 5720"/>
            </a:avLst>
          </a:prstGeom>
          <a:solidFill>
            <a:srgbClr val="FFFFFF"/>
          </a:solidFill>
          <a:ln w="6350">
            <a:solidFill>
              <a:srgbClr val="E6DE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08440" y="1879600"/>
            <a:ext cx="2072031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1E1A1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3,2%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9108440" y="2540000"/>
            <a:ext cx="2072031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E1A1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Studio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08440" y="2875282"/>
            <a:ext cx="207203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2.164 permessi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" y="3652521"/>
            <a:ext cx="1046480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E1A1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Oltre la metà dei </a:t>
            </a:r>
            <a:r>
              <a:rPr lang="en-US" sz="1800" b="1" dirty="0">
                <a:solidFill>
                  <a:srgbClr val="1E1A1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66.839</a:t>
            </a:r>
            <a:r>
              <a:rPr lang="en-US" sz="1800" dirty="0">
                <a:solidFill>
                  <a:srgbClr val="1E1A1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primi permessi rilasciati in Europa nel 2024 è per </a:t>
            </a:r>
            <a:r>
              <a:rPr lang="en-US" sz="1800" b="1" dirty="0">
                <a:solidFill>
                  <a:srgbClr val="C81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ricongiungimento familiare</a:t>
            </a:r>
            <a:r>
              <a:rPr lang="en-US" sz="1800" dirty="0">
                <a:solidFill>
                  <a:srgbClr val="1E1A1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: chi parte raggiunge chi è già partito.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39"/>
            <a:ext cx="10464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605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Primi permessi di soggiorno ad albanesi per motivo, UE 2024 · Fonte: Eurostat (migr_resfirst)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E1A1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FOCUS ITALIA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20521"/>
            <a:ext cx="70637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81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PRIME 5 REGIONI · 2025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948182"/>
            <a:ext cx="170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1A1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Lombardia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590800" y="1958339"/>
            <a:ext cx="2667000" cy="228600"/>
          </a:xfrm>
          <a:prstGeom prst="roundRect">
            <a:avLst>
              <a:gd name="adj" fmla="val 16667"/>
            </a:avLst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5384800" y="1948182"/>
            <a:ext cx="7038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E1A1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82.397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2800" y="2311400"/>
            <a:ext cx="170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E1A1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Emilia-Romagna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90800" y="2321561"/>
            <a:ext cx="1797050" cy="228600"/>
          </a:xfrm>
          <a:prstGeom prst="roundRect">
            <a:avLst>
              <a:gd name="adj" fmla="val 16667"/>
            </a:avLst>
          </a:prstGeom>
          <a:solidFill>
            <a:srgbClr val="8A7F78"/>
          </a:solidFill>
          <a:ln/>
        </p:spPr>
      </p:sp>
      <p:sp>
        <p:nvSpPr>
          <p:cNvPr id="9" name="Text 7"/>
          <p:cNvSpPr/>
          <p:nvPr/>
        </p:nvSpPr>
        <p:spPr>
          <a:xfrm>
            <a:off x="4514850" y="2311400"/>
            <a:ext cx="7227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E1A1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55.575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2674621"/>
            <a:ext cx="170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E1A1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Toscana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590800" y="2684782"/>
            <a:ext cx="1797050" cy="228600"/>
          </a:xfrm>
          <a:prstGeom prst="roundRect">
            <a:avLst>
              <a:gd name="adj" fmla="val 16667"/>
            </a:avLst>
          </a:prstGeom>
          <a:solidFill>
            <a:srgbClr val="8A7F78"/>
          </a:solidFill>
          <a:ln/>
        </p:spPr>
      </p:sp>
      <p:sp>
        <p:nvSpPr>
          <p:cNvPr id="12" name="Text 10"/>
          <p:cNvSpPr/>
          <p:nvPr/>
        </p:nvSpPr>
        <p:spPr>
          <a:xfrm>
            <a:off x="4514850" y="2674621"/>
            <a:ext cx="7240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E1A1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55.498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3037839"/>
            <a:ext cx="170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E1A1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Piemonte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590800" y="3048000"/>
            <a:ext cx="1250950" cy="228600"/>
          </a:xfrm>
          <a:prstGeom prst="roundRect">
            <a:avLst>
              <a:gd name="adj" fmla="val 16667"/>
            </a:avLst>
          </a:prstGeom>
          <a:solidFill>
            <a:srgbClr val="8A7F78"/>
          </a:solidFill>
          <a:ln/>
        </p:spPr>
      </p:sp>
      <p:sp>
        <p:nvSpPr>
          <p:cNvPr id="15" name="Text 13"/>
          <p:cNvSpPr/>
          <p:nvPr/>
        </p:nvSpPr>
        <p:spPr>
          <a:xfrm>
            <a:off x="3968750" y="3037839"/>
            <a:ext cx="722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E1A1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38.564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3401061"/>
            <a:ext cx="170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E1A1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Veneto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590800" y="3411221"/>
            <a:ext cx="1009650" cy="228600"/>
          </a:xfrm>
          <a:prstGeom prst="roundRect">
            <a:avLst>
              <a:gd name="adj" fmla="val 16667"/>
            </a:avLst>
          </a:prstGeom>
          <a:solidFill>
            <a:srgbClr val="8A7F78"/>
          </a:solidFill>
          <a:ln/>
        </p:spPr>
      </p:sp>
      <p:sp>
        <p:nvSpPr>
          <p:cNvPr id="18" name="Text 16"/>
          <p:cNvSpPr/>
          <p:nvPr/>
        </p:nvSpPr>
        <p:spPr>
          <a:xfrm>
            <a:off x="3727450" y="3401061"/>
            <a:ext cx="5735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E1A1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31.101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77200" y="1620521"/>
            <a:ext cx="340106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1E1A1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414.622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8077200" y="2255521"/>
            <a:ext cx="3401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albanesi residenti in Italia (2025)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77200" y="2707639"/>
            <a:ext cx="340106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48,6%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8077200" y="3342639"/>
            <a:ext cx="340106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donne: una comunità di famiglie, quasi in equilibrio di genere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12800" y="6238239"/>
            <a:ext cx="10464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605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Cittadini albanesi residenti per regione e genere · Fonte: Istat · L'età per cittadinanza non è disponibile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E1A1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ECONOMIA A CONFRONTO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30681"/>
          <a:ext cx="5785088" cy="2468880"/>
        </p:xfrm>
        <a:graphic>
          <a:graphicData uri="http://schemas.openxmlformats.org/drawingml/2006/table">
            <a:tbl>
              <a:tblPr/>
              <a:tblGrid>
                <a:gridCol w="1966930"/>
                <a:gridCol w="1909079"/>
                <a:gridCol w="1909079"/>
              </a:tblGrid>
              <a:tr h="7213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E1A19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2024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7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7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5E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E1A19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PIL pro capite (PPP, $)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9B7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7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7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5E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E1A19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Disoccupazione 15–24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9B7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7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7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5E0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1A19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Albania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7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3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1A19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21.641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2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7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3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1A19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25,6%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2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7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3E3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1A19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Italia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1A19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53.285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1A19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20,2%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1A19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Grecia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1A19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37.474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1A19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22,4%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1A19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Germania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1A19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62.655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E1A19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6,6%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014449" y="1620521"/>
            <a:ext cx="4364752" cy="1981200"/>
          </a:xfrm>
          <a:prstGeom prst="roundRect">
            <a:avLst>
              <a:gd name="adj" fmla="val 5128"/>
            </a:avLst>
          </a:prstGeom>
          <a:solidFill>
            <a:srgbClr val="1E1A19"/>
          </a:solidFill>
          <a:ln/>
        </p:spPr>
      </p:sp>
      <p:sp>
        <p:nvSpPr>
          <p:cNvPr id="5" name="Text 2"/>
          <p:cNvSpPr/>
          <p:nvPr/>
        </p:nvSpPr>
        <p:spPr>
          <a:xfrm>
            <a:off x="7268449" y="1874521"/>
            <a:ext cx="39724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8505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RIMESSE VERSO L'ALBANIA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268449" y="2164082"/>
            <a:ext cx="3972454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7F2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2,27 mld $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7268449" y="2849882"/>
            <a:ext cx="397245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9CFC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nel 2024, in crescita ogni anno dal 2020 (1,47 mld $)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12800" y="4404364"/>
            <a:ext cx="1046480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E1A1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 italiano produce in media </a:t>
            </a:r>
            <a:r>
              <a:rPr lang="en-US" sz="1800" b="1" dirty="0">
                <a:solidFill>
                  <a:srgbClr val="1E1A1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2,5 volte</a:t>
            </a:r>
            <a:r>
              <a:rPr lang="en-US" sz="1800" dirty="0">
                <a:solidFill>
                  <a:srgbClr val="1E1A1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il reddito di un albanese, un tedesco quasi </a:t>
            </a:r>
            <a:r>
              <a:rPr lang="en-US" sz="1800" b="1" dirty="0">
                <a:solidFill>
                  <a:srgbClr val="1E1A1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 volte</a:t>
            </a:r>
            <a:r>
              <a:rPr lang="en-US" sz="1800" dirty="0">
                <a:solidFill>
                  <a:srgbClr val="1E1A1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: il divario spiega perché si parte, e le rimesse lo legano a casa.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12800" y="6238242"/>
            <a:ext cx="10464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605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Fonte: Banca Mondiale (NY.GDP.PCAP.PP.KD, SL.UEM.1524.ZS, BX.TRF.PWKR.CD.DT)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81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AF7F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IL PARADOSSO ITALIANO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20521"/>
            <a:ext cx="5130800" cy="1666240"/>
          </a:xfrm>
          <a:prstGeom prst="roundRect">
            <a:avLst>
              <a:gd name="adj" fmla="val 6098"/>
            </a:avLst>
          </a:prstGeom>
          <a:solidFill>
            <a:srgbClr val="A00D25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1874521"/>
            <a:ext cx="4761484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AF7F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−71.896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66800" y="2534921"/>
            <a:ext cx="476148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AF7F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residenti albanesi in Italia tra il picco del 2014 (488.125) e il 2024 (416.229)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48400" y="1620521"/>
            <a:ext cx="5130800" cy="1666240"/>
          </a:xfrm>
          <a:prstGeom prst="roundRect">
            <a:avLst>
              <a:gd name="adj" fmla="val 6098"/>
            </a:avLst>
          </a:prstGeom>
          <a:solidFill>
            <a:srgbClr val="FAF7F2"/>
          </a:solidFill>
          <a:ln/>
        </p:spPr>
      </p:sp>
      <p:sp>
        <p:nvSpPr>
          <p:cNvPr id="7" name="Text 5"/>
          <p:cNvSpPr/>
          <p:nvPr/>
        </p:nvSpPr>
        <p:spPr>
          <a:xfrm>
            <a:off x="6502400" y="1874521"/>
            <a:ext cx="4761484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320.288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502400" y="2534921"/>
            <a:ext cx="476148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E1A1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albanesi diventati cittadini italiani nello stesso periodo (2014–2024)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2800" y="3591564"/>
            <a:ext cx="10464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FAF7F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 residenti albanesi calano non perché partano, ma perché </a:t>
            </a:r>
            <a:r>
              <a:rPr lang="en-US" sz="2000" b="1" dirty="0">
                <a:solidFill>
                  <a:srgbClr val="FAF7F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diventano italiani</a:t>
            </a:r>
            <a:r>
              <a:rPr lang="en-US" sz="2000" dirty="0">
                <a:solidFill>
                  <a:srgbClr val="FAF7F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e escono dalle statistiche sugli stranieri.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12800" y="6238242"/>
            <a:ext cx="10464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3D6D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Fonte: Eurostat (migr_pop1ctz, migr_acq) · Dal 2003 al 2024: 375.581 acquisizioni di cittadinanza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E1A1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LIMITI DELL'ANALISI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20521"/>
            <a:ext cx="5194300" cy="1198880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812800" y="1620521"/>
            <a:ext cx="5194300" cy="1198880"/>
          </a:xfrm>
          <a:custGeom>
            <a:avLst/>
            <a:gdLst/>
            <a:ahLst/>
            <a:cxnLst/>
            <a:rect l="l" t="t" r="r" b="b"/>
            <a:pathLst>
              <a:path w="5194300" h="1198880">
                <a:moveTo>
                  <a:pt x="50800" y="1198880"/>
                </a:moveTo>
                <a:lnTo>
                  <a:pt x="50800" y="119888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50800" y="0"/>
                </a:lnTo>
                <a:lnTo>
                  <a:pt x="50800" y="1198880"/>
                </a:lnTo>
                <a:close/>
              </a:path>
            </a:pathLst>
          </a:custGeom>
          <a:solidFill>
            <a:srgbClr val="C8102E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1823721"/>
            <a:ext cx="487921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1A1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Dati mancanti per paese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66800" y="2118364"/>
            <a:ext cx="4879213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 DESA non riporta l'origine albanese per Germania, USA, Regno Unito, Svizzera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84900" y="1620521"/>
            <a:ext cx="5194300" cy="1198880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184900" y="1620521"/>
            <a:ext cx="5194300" cy="1198880"/>
          </a:xfrm>
          <a:custGeom>
            <a:avLst/>
            <a:gdLst/>
            <a:ahLst/>
            <a:cxnLst/>
            <a:rect l="l" t="t" r="r" b="b"/>
            <a:pathLst>
              <a:path w="5194300" h="1198880">
                <a:moveTo>
                  <a:pt x="50800" y="1198880"/>
                </a:moveTo>
                <a:lnTo>
                  <a:pt x="50800" y="119888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50800" y="0"/>
                </a:lnTo>
                <a:lnTo>
                  <a:pt x="50800" y="1198880"/>
                </a:lnTo>
                <a:close/>
              </a:path>
            </a:pathLst>
          </a:custGeom>
          <a:solidFill>
            <a:srgbClr val="C8102E"/>
          </a:solidFill>
          <a:ln/>
        </p:spPr>
      </p:sp>
      <p:sp>
        <p:nvSpPr>
          <p:cNvPr id="9" name="Text 7"/>
          <p:cNvSpPr/>
          <p:nvPr/>
        </p:nvSpPr>
        <p:spPr>
          <a:xfrm>
            <a:off x="6438900" y="1823721"/>
            <a:ext cx="487921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1A1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Grecia incompleta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38900" y="2118364"/>
            <a:ext cx="4879213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 Eurostat solo 1998 e 2001: esclusa dal trend, usata la fonte UN DESA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2800" y="2997200"/>
            <a:ext cx="5194300" cy="1198880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812800" y="2997200"/>
            <a:ext cx="5194300" cy="1198880"/>
          </a:xfrm>
          <a:custGeom>
            <a:avLst/>
            <a:gdLst/>
            <a:ahLst/>
            <a:cxnLst/>
            <a:rect l="l" t="t" r="r" b="b"/>
            <a:pathLst>
              <a:path w="5194300" h="1198880">
                <a:moveTo>
                  <a:pt x="50800" y="1198880"/>
                </a:moveTo>
                <a:lnTo>
                  <a:pt x="50800" y="119888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50800" y="0"/>
                </a:lnTo>
                <a:lnTo>
                  <a:pt x="50800" y="1198880"/>
                </a:lnTo>
                <a:close/>
              </a:path>
            </a:pathLst>
          </a:custGeom>
          <a:solidFill>
            <a:srgbClr val="C8102E"/>
          </a:solidFill>
          <a:ln/>
        </p:spPr>
      </p:sp>
      <p:sp>
        <p:nvSpPr>
          <p:cNvPr id="13" name="Text 11"/>
          <p:cNvSpPr/>
          <p:nvPr/>
        </p:nvSpPr>
        <p:spPr>
          <a:xfrm>
            <a:off x="1066800" y="3200400"/>
            <a:ext cx="487921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1A1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Età non disponibile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66800" y="3495042"/>
            <a:ext cx="4879213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Istat non incrocia età e cittadinanza: il focus Italia usa regione e genere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84900" y="2997200"/>
            <a:ext cx="5194300" cy="1198880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4900" y="2997200"/>
            <a:ext cx="5194300" cy="1198880"/>
          </a:xfrm>
          <a:custGeom>
            <a:avLst/>
            <a:gdLst/>
            <a:ahLst/>
            <a:cxnLst/>
            <a:rect l="l" t="t" r="r" b="b"/>
            <a:pathLst>
              <a:path w="5194300" h="1198880">
                <a:moveTo>
                  <a:pt x="50800" y="1198880"/>
                </a:moveTo>
                <a:lnTo>
                  <a:pt x="50800" y="119888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50800" y="0"/>
                </a:lnTo>
                <a:lnTo>
                  <a:pt x="50800" y="1198880"/>
                </a:lnTo>
                <a:close/>
              </a:path>
            </a:pathLst>
          </a:custGeom>
          <a:solidFill>
            <a:srgbClr val="C8102E"/>
          </a:solidFill>
          <a:ln/>
        </p:spPr>
      </p:sp>
      <p:sp>
        <p:nvSpPr>
          <p:cNvPr id="17" name="Text 15"/>
          <p:cNvSpPr/>
          <p:nvPr/>
        </p:nvSpPr>
        <p:spPr>
          <a:xfrm>
            <a:off x="6438900" y="3200400"/>
            <a:ext cx="487921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1A1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Solo cittadinanza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38900" y="3495042"/>
            <a:ext cx="4879213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Chi diventa cittadino del paese ospite non è più contato come albanese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A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7F2E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CONCLUSIONI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20521"/>
            <a:ext cx="5588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E8505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524000" y="1620521"/>
            <a:ext cx="9810750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b="1" dirty="0">
                <a:solidFill>
                  <a:srgbClr val="F7F2E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Una diaspora enorme:</a:t>
            </a:r>
            <a:r>
              <a:rPr lang="en-US" sz="1800" dirty="0">
                <a:solidFill>
                  <a:srgbClr val="F7F2E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circa un albanese all'estero ogni due in patria, soprattutto in Italia e Grecia.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2415542"/>
            <a:ext cx="5588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E8505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24000" y="2415542"/>
            <a:ext cx="9810750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b="1" dirty="0">
                <a:solidFill>
                  <a:srgbClr val="F7F2E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Una migrazione familiare:</a:t>
            </a:r>
            <a:r>
              <a:rPr lang="en-US" sz="1800" dirty="0">
                <a:solidFill>
                  <a:srgbClr val="F7F2E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oltre metà dei nuovi permessi è per famiglia; la Germania è la nuova meta del lavoro.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12800" y="3210564"/>
            <a:ext cx="5588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E8505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24000" y="3210564"/>
            <a:ext cx="10668000" cy="334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b="1" dirty="0">
                <a:solidFill>
                  <a:srgbClr val="F7F2E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Il divario economico</a:t>
            </a:r>
            <a:r>
              <a:rPr lang="en-US" sz="1800" dirty="0">
                <a:solidFill>
                  <a:srgbClr val="F7F2E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resta la spinta principale, e le rimesse superano i 2 miliardi di dollari.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12800" y="3815079"/>
            <a:ext cx="5588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E8505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24000" y="3815079"/>
            <a:ext cx="9810750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b="1" dirty="0">
                <a:solidFill>
                  <a:srgbClr val="F7F2E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 Italia gli albanesi non spariscono:</a:t>
            </a:r>
            <a:r>
              <a:rPr lang="en-US" sz="1800" dirty="0">
                <a:solidFill>
                  <a:srgbClr val="F7F2E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diventano italiani. Il calo dei residenti è integrazione, non fuga.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81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5963921"/>
            <a:ext cx="91567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3D6D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Edona Telhallari · github.com/edonatelhallari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559050"/>
            <a:ext cx="10883392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000"/>
              </a:lnSpc>
              <a:buNone/>
            </a:pPr>
            <a:r>
              <a:rPr lang="en-US" sz="9000" b="1" i="0" dirty="0">
                <a:solidFill>
                  <a:srgbClr val="FAF7F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GRAZIE</a:t>
            </a:r>
            <a:endParaRPr lang="en-US" sz="9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lbania in movimento">
  <a:themeElements>
    <a:clrScheme name="Albania in movimento">
      <a:dk1>
        <a:srgbClr val="1E1A19"/>
      </a:dk1>
      <a:lt1>
        <a:srgbClr val="FAF7F2"/>
      </a:lt1>
      <a:dk2>
        <a:srgbClr val="55514F"/>
      </a:dk2>
      <a:lt2>
        <a:srgbClr val="E4E1DC"/>
      </a:lt2>
      <a:accent1>
        <a:srgbClr val="C8102E"/>
      </a:accent1>
      <a:accent2>
        <a:srgbClr val="E8505F"/>
      </a:accent2>
      <a:accent3>
        <a:srgbClr val="A00D25"/>
      </a:accent3>
      <a:accent4>
        <a:srgbClr val="5A504A"/>
      </a:accent4>
      <a:accent5>
        <a:srgbClr val="8A7F78"/>
      </a:accent5>
      <a:accent6>
        <a:srgbClr val="D9CFC5"/>
      </a:accent6>
      <a:hlink>
        <a:srgbClr val="0563C1"/>
      </a:hlink>
      <a:folHlink>
        <a:srgbClr val="954F72"/>
      </a:folHlink>
    </a:clrScheme>
    <a:fontScheme name="Albania in movimento">
      <a:majorFont>
        <a:latin typeface="Oswa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ublic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Albania in movimento</dc:title>
  <dc:subject/>
  <dc:creator/>
  <cp:lastModifiedBy/>
  <cp:revision>1</cp:revision>
  <dcterms:created xsi:type="dcterms:W3CDTF">2026-10-07T21:00:13Z</dcterms:created>
  <dcterms:modified xsi:type="dcterms:W3CDTF">2026-10-07T21:00:13Z</dcterms:modified>
</cp:coreProperties>
</file>